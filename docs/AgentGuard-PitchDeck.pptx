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04A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381000"/>
            <a:ext cx="1905000" cy="1905000"/>
          </a:xfrm>
          <a:prstGeom prst="roundRect">
            <a:avLst>
              <a:gd name="adj" fmla="val 48000"/>
            </a:avLst>
          </a:prstGeom>
          <a:noFill/>
          <a:ln w="7620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39000" y="762000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FAB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2040434"/>
            <a:ext cx="418738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spcAft>
                <a:spcPts val="6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476250" y="2764334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Governance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6250" y="3465314"/>
            <a:ext cx="3886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control mapping, threat modeling, and policy enforcement for enterprise agentic AI systems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6250" y="4398764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A Investment Opportunity • January 2026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04A0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742950"/>
            <a:ext cx="45526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an unguarded frontier.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038225"/>
            <a:ext cx="45526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deploy AI agents that browse, execute code, and make autonomous decisions—with minimal security.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111055" y="742950"/>
            <a:ext cx="3651945" cy="660946"/>
          </a:xfrm>
          <a:prstGeom prst="roundRect">
            <a:avLst>
              <a:gd name="adj" fmla="val 720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25343" y="742950"/>
            <a:ext cx="0" cy="660946"/>
          </a:xfrm>
          <a:prstGeom prst="line">
            <a:avLst/>
          </a:prstGeom>
          <a:noFill/>
          <a:ln w="28575">
            <a:solidFill>
              <a:srgbClr val="D94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3930" y="857250"/>
            <a:ext cx="346266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50"/>
              </a:spcAft>
              <a:buNone/>
            </a:pPr>
            <a:r>
              <a:rPr lang="en-US" sz="1650" b="1" dirty="0">
                <a:solidFill>
                  <a:srgbClr val="D9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253930" y="1169640"/>
            <a:ext cx="34626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lack AI security controls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111055" y="1480096"/>
            <a:ext cx="3651945" cy="660946"/>
          </a:xfrm>
          <a:prstGeom prst="roundRect">
            <a:avLst>
              <a:gd name="adj" fmla="val 720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25343" y="1480096"/>
            <a:ext cx="0" cy="660946"/>
          </a:xfrm>
          <a:prstGeom prst="line">
            <a:avLst/>
          </a:prstGeom>
          <a:noFill/>
          <a:ln w="28575">
            <a:solidFill>
              <a:srgbClr val="EB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3930" y="1594396"/>
            <a:ext cx="346266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50"/>
              </a:spcAft>
              <a:buNone/>
            </a:pPr>
            <a:r>
              <a:rPr lang="en-US" sz="1650" b="1" dirty="0">
                <a:solidFill>
                  <a:srgbClr val="E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$4.2M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253930" y="1906786"/>
            <a:ext cx="34626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AI-related breach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111055" y="2217241"/>
            <a:ext cx="3651945" cy="660946"/>
          </a:xfrm>
          <a:prstGeom prst="roundRect">
            <a:avLst>
              <a:gd name="adj" fmla="val 720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125343" y="2217241"/>
            <a:ext cx="0" cy="660946"/>
          </a:xfrm>
          <a:prstGeom prst="line">
            <a:avLst/>
          </a:prstGeom>
          <a:noFill/>
          <a:ln w="28575">
            <a:solidFill>
              <a:srgbClr val="D04A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3930" y="2331541"/>
            <a:ext cx="346266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50"/>
              </a:spcAft>
              <a:buNone/>
            </a:pPr>
            <a:r>
              <a:rPr lang="en-US" sz="16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253930" y="2643932"/>
            <a:ext cx="34626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with NIST AI RMF crosswalk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8549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platform for AI security governance, compliance, and observability.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2014538"/>
            <a:ext cx="1585020" cy="1859161"/>
          </a:xfrm>
          <a:prstGeom prst="roundRect">
            <a:avLst>
              <a:gd name="adj" fmla="val 480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2028825"/>
            <a:ext cx="1585020" cy="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2690813"/>
            <a:ext cx="1305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Mapping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33400" y="3092648"/>
            <a:ext cx="130582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complete NIST AI RMF → 800-53 crosswalk. Automated gap analysis and remediation roadmaps.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080320" y="2014538"/>
            <a:ext cx="1585020" cy="1859161"/>
          </a:xfrm>
          <a:prstGeom prst="roundRect">
            <a:avLst>
              <a:gd name="adj" fmla="val 480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080320" y="2028825"/>
            <a:ext cx="1585020" cy="0"/>
          </a:xfrm>
          <a:prstGeom prst="line">
            <a:avLst/>
          </a:prstGeom>
          <a:noFill/>
          <a:ln w="28575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2720" y="2690813"/>
            <a:ext cx="1305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232720" y="3092648"/>
            <a:ext cx="130582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OpenTelemetry for agent traces. LLM, retrieval, and tool spans with security signals.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779639" y="1935956"/>
            <a:ext cx="1585020" cy="2016323"/>
          </a:xfrm>
          <a:prstGeom prst="roundRect">
            <a:avLst>
              <a:gd name="adj" fmla="val 480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79639" y="1950244"/>
            <a:ext cx="1585020" cy="0"/>
          </a:xfrm>
          <a:prstGeom prst="line">
            <a:avLst/>
          </a:prstGeom>
          <a:noFill/>
          <a:ln w="28575">
            <a:solidFill>
              <a:srgbClr val="A37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2039" y="2612231"/>
            <a:ext cx="1305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932039" y="3014067"/>
            <a:ext cx="1305824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OPA-powered enforcement. Tool access, data flow, HITL gates, capability bounds. Sub-ms evaluation.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478959" y="2014538"/>
            <a:ext cx="1585020" cy="1859161"/>
          </a:xfrm>
          <a:prstGeom prst="roundRect">
            <a:avLst>
              <a:gd name="adj" fmla="val 480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78959" y="2028825"/>
            <a:ext cx="1585020" cy="0"/>
          </a:xfrm>
          <a:prstGeom prst="line">
            <a:avLst/>
          </a:prstGeom>
          <a:noFill/>
          <a:ln w="28575">
            <a:solidFill>
              <a:srgbClr val="F088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1359" y="2690813"/>
            <a:ext cx="1305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631359" y="3092648"/>
            <a:ext cx="130582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 integration. Agent-specific STRIDE analysis with trust boundary detection.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178278" y="1935956"/>
            <a:ext cx="1585020" cy="2016323"/>
          </a:xfrm>
          <a:prstGeom prst="roundRect">
            <a:avLst>
              <a:gd name="adj" fmla="val 480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178278" y="1950244"/>
            <a:ext cx="1585020" cy="0"/>
          </a:xfrm>
          <a:prstGeom prst="line">
            <a:avLst/>
          </a:prstGeom>
          <a:noFill/>
          <a:ln w="28575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0678" y="2612231"/>
            <a:ext cx="1305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7330678" y="3014067"/>
            <a:ext cx="1305824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AI security posture scoring. Benchmark against industry peers with actionable roadmaps.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62050" y="1638300"/>
            <a:ext cx="2476500" cy="2476500"/>
          </a:xfrm>
          <a:prstGeom prst="roundRect">
            <a:avLst>
              <a:gd name="adj" fmla="val 36923"/>
            </a:avLst>
          </a:prstGeom>
          <a:solidFill>
            <a:srgbClr val="00D4AA">
              <a:alpha val="10000"/>
            </a:srgbClr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44813" y="1809750"/>
            <a:ext cx="51097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$47B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144813" y="2103090"/>
            <a:ext cx="5109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1590675" y="2066925"/>
            <a:ext cx="1619250" cy="1619250"/>
          </a:xfrm>
          <a:prstGeom prst="roundRect">
            <a:avLst>
              <a:gd name="adj" fmla="val 56471"/>
            </a:avLst>
          </a:prstGeom>
          <a:solidFill>
            <a:srgbClr val="1F6FEB">
              <a:alpha val="15000"/>
            </a:srgbClr>
          </a:solidFill>
          <a:ln w="19050">
            <a:solidFill>
              <a:srgbClr val="1F6F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66826" y="2257425"/>
            <a:ext cx="4667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$8.2B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66826" y="2497336"/>
            <a:ext cx="4667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066925" y="2543175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A371F7">
              <a:alpha val="25000"/>
            </a:srgbClr>
          </a:solidFill>
          <a:ln w="19050">
            <a:solidFill>
              <a:srgbClr val="A371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07204" y="2736652"/>
            <a:ext cx="3861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$420M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207204" y="2909888"/>
            <a:ext cx="38619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724400" y="1713607"/>
            <a:ext cx="4038600" cy="546646"/>
          </a:xfrm>
          <a:prstGeom prst="roundRect">
            <a:avLst>
              <a:gd name="adj" fmla="val 1045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700" y="182790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38700" y="2012603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 security + GRC software. MLSecOps, governance, compliance.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24400" y="2374553"/>
            <a:ext cx="4038600" cy="546646"/>
          </a:xfrm>
          <a:prstGeom prst="roundRect">
            <a:avLst>
              <a:gd name="adj" fmla="val 1045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38700" y="2488853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ADDRESSABLE MARKET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838700" y="2673548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security for regulated industries. Finance, healthcare, government.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24400" y="3035498"/>
            <a:ext cx="4038600" cy="546646"/>
          </a:xfrm>
          <a:prstGeom prst="roundRect">
            <a:avLst>
              <a:gd name="adj" fmla="val 1045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38700" y="314979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OBTAINABLE MARKET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38700" y="3334494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enterprises with agentic AI. Year 3 target: 150 customers.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75582" y="1072753"/>
            <a:ext cx="830759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32438" y="1177528"/>
            <a:ext cx="5170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220641" y="1072753"/>
            <a:ext cx="865584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77148" y="1177528"/>
            <a:ext cx="552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LlamaIndex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200525" y="1072753"/>
            <a:ext cx="667345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59015" y="1177528"/>
            <a:ext cx="350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982170" y="1072753"/>
            <a:ext cx="737443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39959" y="1177528"/>
            <a:ext cx="4218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833914" y="1072753"/>
            <a:ext cx="1034355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88734" y="1177528"/>
            <a:ext cx="7247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Agents</a:t>
            </a:r>
            <a:endParaRPr lang="en-US" sz="825" dirty="0"/>
          </a:p>
        </p:txBody>
      </p:sp>
      <p:pic>
        <p:nvPicPr>
          <p:cNvPr id="14" name="Image 0" descr="/tmp/rasterized-gradient-da4a31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952774"/>
            <a:ext cx="8382000" cy="5923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1206" y="2076599"/>
            <a:ext cx="8141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AgentGuard SDK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501206" y="2287935"/>
            <a:ext cx="8141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• Go • TypeScript — OpenTelemetry Instrumentation + Policy Hooks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81000" y="3068985"/>
            <a:ext cx="1615380" cy="820787"/>
          </a:xfrm>
          <a:prstGeom prst="roundRect">
            <a:avLst>
              <a:gd name="adj" fmla="val 696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81000" y="3083272"/>
            <a:ext cx="1615380" cy="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5300" y="3211860"/>
            <a:ext cx="1414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Service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95300" y="3415605"/>
            <a:ext cx="141451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800-53 Crosswalk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2072580" y="3068985"/>
            <a:ext cx="1615380" cy="820787"/>
          </a:xfrm>
          <a:prstGeom prst="roundRect">
            <a:avLst>
              <a:gd name="adj" fmla="val 696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2072580" y="3083272"/>
            <a:ext cx="1615380" cy="0"/>
          </a:xfrm>
          <a:prstGeom prst="line">
            <a:avLst/>
          </a:prstGeom>
          <a:noFill/>
          <a:ln w="28575">
            <a:solidFill>
              <a:srgbClr val="1F6F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86880" y="3211860"/>
            <a:ext cx="1414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Service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2186880" y="3415605"/>
            <a:ext cx="141451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Traces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Signals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3764161" y="3068985"/>
            <a:ext cx="1615380" cy="820787"/>
          </a:xfrm>
          <a:prstGeom prst="roundRect">
            <a:avLst>
              <a:gd name="adj" fmla="val 696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3764161" y="3083272"/>
            <a:ext cx="1615380" cy="0"/>
          </a:xfrm>
          <a:prstGeom prst="line">
            <a:avLst/>
          </a:prstGeom>
          <a:noFill/>
          <a:ln w="28575">
            <a:solidFill>
              <a:srgbClr val="A371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78461" y="3211860"/>
            <a:ext cx="1414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Service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878461" y="3415605"/>
            <a:ext cx="141451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 Engine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Access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Gates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5455741" y="3068985"/>
            <a:ext cx="1615380" cy="820787"/>
          </a:xfrm>
          <a:prstGeom prst="roundRect">
            <a:avLst>
              <a:gd name="adj" fmla="val 696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5455741" y="3083272"/>
            <a:ext cx="1615380" cy="0"/>
          </a:xfrm>
          <a:prstGeom prst="line">
            <a:avLst/>
          </a:prstGeom>
          <a:noFill/>
          <a:ln w="28575">
            <a:solidFill>
              <a:srgbClr val="F0883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70041" y="3211860"/>
            <a:ext cx="1414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Service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5570041" y="3415605"/>
            <a:ext cx="141451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Analysis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7147322" y="3068985"/>
            <a:ext cx="1615380" cy="820787"/>
          </a:xfrm>
          <a:prstGeom prst="roundRect">
            <a:avLst>
              <a:gd name="adj" fmla="val 696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7147322" y="3083272"/>
            <a:ext cx="1615380" cy="0"/>
          </a:xfrm>
          <a:prstGeom prst="line">
            <a:avLst/>
          </a:prstGeom>
          <a:noFill/>
          <a:ln w="28575">
            <a:solidFill>
              <a:srgbClr val="F8514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61622" y="3211860"/>
            <a:ext cx="1414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Service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7261622" y="3415605"/>
            <a:ext cx="141451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 Scoring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Roadmaps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2850803" y="4413647"/>
            <a:ext cx="842814" cy="304800"/>
          </a:xfrm>
          <a:prstGeom prst="roundRect">
            <a:avLst>
              <a:gd name="adj" fmla="val 18750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012728" y="4499372"/>
            <a:ext cx="529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807916" y="4413647"/>
            <a:ext cx="805607" cy="304800"/>
          </a:xfrm>
          <a:prstGeom prst="roundRect">
            <a:avLst>
              <a:gd name="adj" fmla="val 18750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969841" y="4499372"/>
            <a:ext cx="491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727823" y="4413647"/>
            <a:ext cx="567482" cy="304800"/>
          </a:xfrm>
          <a:prstGeom prst="roundRect">
            <a:avLst>
              <a:gd name="adj" fmla="val 18750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889748" y="4499372"/>
            <a:ext cx="2485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5409605" y="4413647"/>
            <a:ext cx="883444" cy="304800"/>
          </a:xfrm>
          <a:prstGeom prst="roundRect">
            <a:avLst>
              <a:gd name="adj" fmla="val 18750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571530" y="4499372"/>
            <a:ext cx="570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 Bundles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Advantage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832545"/>
            <a:ext cx="8382000" cy="2737396"/>
          </a:xfrm>
          <a:prstGeom prst="roundRect">
            <a:avLst>
              <a:gd name="adj" fmla="val 278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832545"/>
            <a:ext cx="8382000" cy="33709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927795"/>
            <a:ext cx="27462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212388" y="927795"/>
            <a:ext cx="13730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Lakera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558538" y="927795"/>
            <a:ext cx="13730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904689" y="927795"/>
            <a:ext cx="13730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250839" y="927795"/>
            <a:ext cx="13730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AgentGuard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381000" y="1174403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1272480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 → 800-53 Crosswalk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381000" y="1517303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400" y="1615380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Access Control Policies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81000" y="1860203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1958280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Governance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381000" y="2203103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" y="2301180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Gates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381000" y="2546003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2644080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Agent-Specific Threat Modeling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381000" y="2888903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2986980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Observability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381000" y="3231803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3329880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 / Prompt Injection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3760440"/>
            <a:ext cx="2692450" cy="712440"/>
          </a:xfrm>
          <a:prstGeom prst="roundRect">
            <a:avLst>
              <a:gd name="adj" fmla="val 8022"/>
            </a:avLst>
          </a:prstGeom>
          <a:solidFill>
            <a:srgbClr val="00D4AA">
              <a:alpha val="10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4825" y="3884265"/>
            <a:ext cx="24936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4825" y="4082355"/>
            <a:ext cx="24936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complete NIST AI RMF compliance crosswalk on the market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225850" y="3827115"/>
            <a:ext cx="2692450" cy="579090"/>
          </a:xfrm>
          <a:prstGeom prst="roundRect">
            <a:avLst>
              <a:gd name="adj" fmla="val 9869"/>
            </a:avLst>
          </a:prstGeom>
          <a:solidFill>
            <a:srgbClr val="1F6FEB">
              <a:alpha val="10000"/>
            </a:srgbClr>
          </a:solidFill>
          <a:ln w="9525">
            <a:solidFill>
              <a:srgbClr val="1F6F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49675" y="3950940"/>
            <a:ext cx="24936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Agent-Native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49675" y="4149030"/>
            <a:ext cx="24936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agentic AI, not retrofitted from LLM guardrails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70699" y="3760440"/>
            <a:ext cx="2692450" cy="712440"/>
          </a:xfrm>
          <a:prstGeom prst="roundRect">
            <a:avLst>
              <a:gd name="adj" fmla="val 8022"/>
            </a:avLst>
          </a:prstGeom>
          <a:solidFill>
            <a:srgbClr val="A371F7">
              <a:alpha val="10000"/>
            </a:srgbClr>
          </a:solidFill>
          <a:ln w="9525">
            <a:solidFill>
              <a:srgbClr val="A371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94524" y="3884265"/>
            <a:ext cx="24936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4524" y="4082355"/>
            <a:ext cx="24936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pane of glass: governance, observability, enforcement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32595"/>
            <a:ext cx="1976438" cy="2405807"/>
          </a:xfrm>
          <a:prstGeom prst="roundRect">
            <a:avLst>
              <a:gd name="adj" fmla="val 385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1432620"/>
            <a:ext cx="16079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81025" y="1769715"/>
            <a:ext cx="16079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</a:t>
            </a:r>
            <a:pPr algn="l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81025" y="233347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10 agents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81025" y="27335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Control mapping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81025" y="29240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observability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1025" y="31145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Policy enforcement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81025" y="33050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support only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09838" y="1223070"/>
            <a:ext cx="1995487" cy="2424857"/>
          </a:xfrm>
          <a:prstGeom prst="roundRect">
            <a:avLst>
              <a:gd name="adj" fmla="val 3819"/>
            </a:avLst>
          </a:prstGeom>
          <a:solidFill>
            <a:srgbClr val="161B22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38016" y="1146870"/>
            <a:ext cx="1139130" cy="304800"/>
          </a:xfrm>
          <a:prstGeom prst="roundRect">
            <a:avLst>
              <a:gd name="adj" fmla="val 3125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52316" y="1165920"/>
            <a:ext cx="928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19388" y="1432620"/>
            <a:ext cx="16079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719388" y="1769715"/>
            <a:ext cx="16079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pPr algn="l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719388" y="233347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50 agents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19388" y="27335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Everything in Starter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19388" y="29240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Threat modeling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9388" y="31145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HITL workflows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719388" y="33050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SSO / SCIM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57725" y="1232595"/>
            <a:ext cx="1976438" cy="2405807"/>
          </a:xfrm>
          <a:prstGeom prst="roundRect">
            <a:avLst>
              <a:gd name="adj" fmla="val 385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57750" y="1432620"/>
            <a:ext cx="16079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57750" y="1769715"/>
            <a:ext cx="16079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$25K+</a:t>
            </a:r>
            <a:pPr algn="l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857750" y="233347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agents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57750" y="27335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Everything in Pro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57750" y="29240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FedRAMP package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57750" y="31145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 integrations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57750" y="33050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Dedicated CSM</a:t>
            </a:r>
            <a:endParaRPr lang="en-US" sz="750" dirty="0"/>
          </a:p>
        </p:txBody>
      </p:sp>
      <p:pic>
        <p:nvPicPr>
          <p:cNvPr id="30" name="Image 0" descr="/tmp/rasterized-gradient-d2ce58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563" y="1232595"/>
            <a:ext cx="1976438" cy="240580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986588" y="1432620"/>
            <a:ext cx="16079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HIGH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6986588" y="1769715"/>
            <a:ext cx="16079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$50K+</a:t>
            </a:r>
            <a:pPr algn="l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6986588" y="233347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 cloud deployment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986588" y="27335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Everything in Enterprise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986588" y="29240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IL4/IL5 compliant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986588" y="31145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SLED support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986588" y="3305026"/>
            <a:ext cx="1607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3PAO audit support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381000" y="4190107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05588" y="4347270"/>
            <a:ext cx="5574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$85K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2705588" y="4667250"/>
            <a:ext cx="5574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ACV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486150" y="4383435"/>
            <a:ext cx="9525" cy="3810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717667" y="4347270"/>
            <a:ext cx="6740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3717667" y="4667250"/>
            <a:ext cx="674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payback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4613672" y="4383435"/>
            <a:ext cx="9525" cy="3810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4845949" y="4347270"/>
            <a:ext cx="5964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130%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4845949" y="4667250"/>
            <a:ext cx="5964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NRR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5665143" y="4383435"/>
            <a:ext cx="9525" cy="3810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5897972" y="4347270"/>
            <a:ext cx="5401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5897972" y="4667250"/>
            <a:ext cx="540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churn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2095500" cy="5715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76500" y="838200"/>
            <a:ext cx="2095500" cy="5715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0" y="838200"/>
            <a:ext cx="2095500" cy="57150"/>
          </a:xfrm>
          <a:prstGeom prst="rect">
            <a:avLst/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0" y="838200"/>
            <a:ext cx="2095500" cy="57150"/>
          </a:xfrm>
          <a:prstGeom prst="rect">
            <a:avLst/>
          </a:prstGeom>
          <a:solidFill>
            <a:srgbClr val="F088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1266825"/>
            <a:ext cx="2024062" cy="3057376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1000" y="1281113"/>
            <a:ext cx="2024062" cy="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1409700"/>
            <a:ext cx="1831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95300" y="1701105"/>
            <a:ext cx="1831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5300" y="2051596"/>
            <a:ext cx="1831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2026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95300" y="2400151"/>
            <a:ext cx="1795463" cy="14478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MVP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 crosswalk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SDK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design partners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5300" y="4076551"/>
            <a:ext cx="1831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ARR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00313" y="1400175"/>
            <a:ext cx="2024062" cy="2790676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00313" y="1414463"/>
            <a:ext cx="2024062" cy="0"/>
          </a:xfrm>
          <a:prstGeom prst="line">
            <a:avLst/>
          </a:prstGeom>
          <a:noFill/>
          <a:ln w="28575">
            <a:solidFill>
              <a:srgbClr val="1F6F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4613" y="1543050"/>
            <a:ext cx="1831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2614613" y="1834455"/>
            <a:ext cx="1831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14613" y="2184946"/>
            <a:ext cx="1831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614613" y="2533501"/>
            <a:ext cx="1795463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 GA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Type II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customers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14613" y="3943201"/>
            <a:ext cx="1831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$2.5M ARR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19625" y="1400175"/>
            <a:ext cx="2024062" cy="2790676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19625" y="1414463"/>
            <a:ext cx="2024063" cy="0"/>
          </a:xfrm>
          <a:prstGeom prst="line">
            <a:avLst/>
          </a:prstGeom>
          <a:noFill/>
          <a:ln w="28575">
            <a:solidFill>
              <a:srgbClr val="A371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3925" y="1543050"/>
            <a:ext cx="1831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733925" y="1834455"/>
            <a:ext cx="1831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3925" y="2184946"/>
            <a:ext cx="1831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733925" y="2533501"/>
            <a:ext cx="1795463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Moderate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42001 mapping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integrations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customers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733925" y="3943201"/>
            <a:ext cx="1831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 ARR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738938" y="1400175"/>
            <a:ext cx="2024062" cy="2790676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738938" y="1414463"/>
            <a:ext cx="2024063" cy="0"/>
          </a:xfrm>
          <a:prstGeom prst="line">
            <a:avLst/>
          </a:prstGeom>
          <a:noFill/>
          <a:ln w="28575">
            <a:solidFill>
              <a:srgbClr val="F08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3238" y="1543050"/>
            <a:ext cx="1831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6853238" y="1834455"/>
            <a:ext cx="1831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3238" y="2184946"/>
            <a:ext cx="1831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853238" y="2533501"/>
            <a:ext cx="1795463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High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support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ecosystem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customers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53238" y="3943201"/>
            <a:ext cx="1831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$20M ARR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81000" y="4700588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1000" y="4819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300" y="4781550"/>
            <a:ext cx="68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26: Series A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352996" y="4819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F6F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467296" y="4781550"/>
            <a:ext cx="61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26: SOC 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256086" y="4819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370386" y="4781550"/>
            <a:ext cx="7667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27: FedRAMP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12616" y="4819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088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426916" y="4781550"/>
            <a:ext cx="6858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28: Series B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9debff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166961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RAISE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429792"/>
            <a:ext cx="4080510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81000" y="3214688"/>
            <a:ext cx="4000500" cy="857101"/>
          </a:xfrm>
          <a:prstGeom prst="roundRect">
            <a:avLst>
              <a:gd name="adj" fmla="val 889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00050" y="3214688"/>
            <a:ext cx="0" cy="857101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3367088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lead from: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584228"/>
            <a:ext cx="373075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Security-focused VCs with enterprise GTM expertise and FedRAMP portfolio experience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762500" y="1144935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62500" y="1655415"/>
            <a:ext cx="4000500" cy="114300"/>
          </a:xfrm>
          <a:prstGeom prst="roundRect">
            <a:avLst>
              <a:gd name="adj" fmla="val 3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62500" y="1655415"/>
            <a:ext cx="2000250" cy="1143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62500" y="2198340"/>
            <a:ext cx="4000500" cy="114300"/>
          </a:xfrm>
          <a:prstGeom prst="roundRect">
            <a:avLst>
              <a:gd name="adj" fmla="val 3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62500" y="2198340"/>
            <a:ext cx="1200150" cy="114300"/>
          </a:xfrm>
          <a:prstGeom prst="rect">
            <a:avLst/>
          </a:prstGeom>
          <a:solidFill>
            <a:srgbClr val="1F6F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62500" y="2741265"/>
            <a:ext cx="4000500" cy="114300"/>
          </a:xfrm>
          <a:prstGeom prst="roundRect">
            <a:avLst>
              <a:gd name="adj" fmla="val 3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62500" y="2741265"/>
            <a:ext cx="600075" cy="114300"/>
          </a:xfrm>
          <a:prstGeom prst="rect">
            <a:avLst/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762500" y="3284190"/>
            <a:ext cx="4000500" cy="114300"/>
          </a:xfrm>
          <a:prstGeom prst="roundRect">
            <a:avLst>
              <a:gd name="adj" fmla="val 3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62500" y="3284190"/>
            <a:ext cx="200025" cy="114300"/>
          </a:xfrm>
          <a:prstGeom prst="rect">
            <a:avLst/>
          </a:prstGeom>
          <a:solidFill>
            <a:srgbClr val="F088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62500" y="3693765"/>
            <a:ext cx="4000500" cy="400050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1" descr="/tmp/rasterized-gradient-df4c0e5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05350"/>
            <a:ext cx="9144000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AgentGuard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AgentGuard - AI Security Governance Platform</dc:title>
  <dc:subject>Series A Investment Opportunity</dc:subject>
  <dc:creator>AgentGuard Inc.</dc:creator>
  <cp:lastModifiedBy>AgentGuard Inc.</cp:lastModifiedBy>
  <cp:revision>1</cp:revision>
  <dcterms:created xsi:type="dcterms:W3CDTF">2026-01-04T00:54:40Z</dcterms:created>
  <dcterms:modified xsi:type="dcterms:W3CDTF">2026-01-04T00:54:40Z</dcterms:modified>
</cp:coreProperties>
</file>